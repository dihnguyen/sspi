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17D517B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32BF89-4DB7-069E-AF65-6F64629FFC42}" name="Di Nguyen" initials="" userId="S::di.nguyen@ucd.ie::922706d8-f1a5-45fe-8c0d-8415e5328f7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61"/>
    <p:restoredTop sz="94783"/>
  </p:normalViewPr>
  <p:slideViewPr>
    <p:cSldViewPr snapToGrid="0">
      <p:cViewPr varScale="1">
        <p:scale>
          <a:sx n="109" d="100"/>
          <a:sy n="109" d="100"/>
        </p:scale>
        <p:origin x="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1_17D517B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6AF2DD-F970-F74E-B53B-63B0FCB39DFA}" authorId="{7032BF89-4DB7-069E-AF65-6F64629FFC42}" created="2023-10-02T14:24:16.68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9" creationId="{5602E791-4C70-306B-C88A-32BCBCC08FDF}"/>
      <ac:txMk cp="0" len="29">
        <ac:context len="30" hash="3070219813"/>
      </ac:txMk>
    </ac:txMkLst>
    <p188:pos x="1804704" y="868680"/>
    <p188:txBody>
      <a:bodyPr/>
      <a:lstStyle/>
      <a:p>
        <a:r>
          <a:rPr lang="en-US"/>
          <a:t>For a given cell and x-solution, return information on the UB and LB objective values and corresponding solutions</a:t>
        </a:r>
      </a:p>
    </p188:txBody>
  </p188:cm>
  <p188:cm id="{26BA129D-95BC-EA44-AF10-7E0544F4A832}" authorId="{7032BF89-4DB7-069E-AF65-6F64629FFC42}" created="2023-10-02T14:24:55.75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10" creationId="{5687B32F-44F9-690C-8CF7-05DD1A4EBFF1}"/>
      <ac:txMk cp="0" len="19">
        <ac:context len="20" hash="3264157407"/>
      </ac:txMk>
    </ac:txMkLst>
    <p188:pos x="2087880" y="865555"/>
    <p188:txBody>
      <a:bodyPr/>
      <a:lstStyle/>
      <a:p>
        <a:r>
          <a:rPr lang="en-US"/>
          <a:t>Query a cell’s info from dataframe</a:t>
        </a:r>
      </a:p>
    </p188:txBody>
  </p188:cm>
  <p188:cm id="{CD67B005-30D8-144B-8F20-14E815761C6A}" authorId="{7032BF89-4DB7-069E-AF65-6F64629FFC42}" created="2023-10-02T14:36:11.1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11" creationId="{1CCB6B52-FD67-427E-28BB-190CF178CB84}"/>
    </ac:deMkLst>
    <p188:txBody>
      <a:bodyPr/>
      <a:lstStyle/>
      <a:p>
        <a:r>
          <a:rPr lang="en-US"/>
          <a:t>Select arc based on A1 = 0 or A1 = 1</a:t>
        </a:r>
      </a:p>
    </p188:txBody>
  </p188:cm>
  <p188:cm id="{D07FFFF7-018C-0A4A-A505-DEE3C68DDCC6}" authorId="{7032BF89-4DB7-069E-AF65-6F64629FFC42}" created="2023-10-02T14:51:11.94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28" creationId="{76BDC4DA-A3D7-02DD-247D-B97C6C88EC9E}"/>
    </ac:deMkLst>
    <p188:txBody>
      <a:bodyPr/>
      <a:lstStyle/>
      <a:p>
        <a:r>
          <a:rPr lang="en-US"/>
          <a:t>-Set Gurobi parameters
-Load instance to run
-Load functions that are used across all variations, e.g., arc selection, obtain cell’s info</a:t>
        </a:r>
      </a:p>
    </p188:txBody>
  </p188:cm>
  <p188:cm id="{731EE8ED-40C6-6A41-BF39-0EB0A8F71913}" authorId="{7032BF89-4DB7-069E-AF65-6F64629FFC42}" created="2023-10-02T14:55:20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33" creationId="{7264900C-EEC6-10B9-EC1B-AA3731C5A02F}"/>
      <ac:txMk cp="0" len="17">
        <ac:context len="45" hash="2430953953"/>
      </ac:txMk>
    </ac:txMkLst>
    <p188:pos x="1603497" y="2560808"/>
    <p188:txBody>
      <a:bodyPr/>
      <a:lstStyle/>
      <a:p>
        <a:r>
          <a:rPr lang="en-US"/>
          <a:t>functionPartition calls functionSelectArc and functionArcSplit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6682E5-FC27-4643-A2ED-FC8C63F16A1E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336E4-9453-2843-90EF-2D9416610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008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336E4-9453-2843-90EF-2D94166106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97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6D341-FF2D-BBB9-42F1-97B7284894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193E9-E824-AA50-8FCD-8C17D3A3C7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9A487-CB3A-E2CF-4B34-8142135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D51D3-4DD7-E2C3-605C-C28A95A9E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0869B-8DE3-63D3-D500-49290DE7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2D98-13DC-7B7F-D6B2-25AF676E1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CA645-6C82-0813-C01E-E699E2E24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15F65-F804-B7A2-B64F-EC8901426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E3CA3-5D98-8431-154C-D40B547C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91B5B-F3D4-2F75-4034-2E33FA74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360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4C051-47DA-5C8A-8045-77BD82F72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98593-5AF8-47E5-9097-9023D7474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2D05E-653F-2496-9EC9-977DE8934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642A5-A0BE-7134-95AF-74E6B9180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C0115-8541-E901-C8F1-5A49E9410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75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D4F8C-8D06-0DE1-03B5-55F161A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92EB5-0168-8391-B5A0-3F83F06E08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96930-A67C-ABFF-6CE8-F61277795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4DAB1-4436-8ED1-8FF7-DD9D75F3F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5F144-3E6D-27F3-D212-CD858530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F4122-C6A4-2C13-352A-505FA3E2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7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5F327-7DF8-D6CB-0C1B-7C87B919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DD9FD-6347-2200-A124-E3B0D212C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58D1A7-8185-A99C-0E36-B2F9CDEA3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AC6CB8-B535-63E3-D0D2-7048BB699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83DA08-B51F-C06E-B876-25D726929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F71D9-AE42-0E51-A9B7-1F2606710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37190B-6E64-A7CD-CDFC-93FEE5319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4C7FA2-28EA-B737-EF79-EB316CC9A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268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10DF5-8775-8DB7-A1A3-D54395CFC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8ED8D-581F-B8C0-9C51-1C9F52E6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E359F7-DEB8-2E2D-25A6-A6D994437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ED20FC-C705-C1D2-6736-5BCF08D02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172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0E8B54-8781-B493-F71C-FA2485270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511D40-C8EB-6303-C33A-6B6ED0EAE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00E03-ADA5-8D15-8A4F-C5126616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1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295CE-2092-FFB3-7E5B-6BF2E7E9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DDB00-6D33-9B20-E0DD-D8304AAEF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E68DF-7183-45B4-1FB5-1259F9076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DB2EB4-8DFF-BC57-D6FB-881C45EA9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42D25D-B036-A44D-47A1-7E956C8A9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E96E7-1CC5-BE79-18FE-A0A972BC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9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1F650-D759-2C8B-96AA-6A8F5BA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1E3765-2D3C-AD89-5C46-9D6ADB65ED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67765-364B-111C-5D9F-83F69D8E9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8F445-CD00-4235-D930-99CEEF6C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19CB4-2B69-5942-E6A7-FF5EEEB4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FD8E8-6089-8723-C31F-7EF13E58E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1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6F03-274A-FFA0-F4EB-F8B11555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D79F34-2696-DE06-EAE5-86F190C656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4EA2-3373-2240-CB7B-8D42E1947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A919-72E4-C9D7-7CA5-1B7D2E1F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83075-6658-3452-DC58-AC1CD091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887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3D482D-FDC7-DC32-0556-2E467AE51B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7C138-8F97-7F61-506D-01AB25F7AA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A3CB7-B3E4-222B-563D-F46C10FA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945B2-3E28-9A11-8775-9064DCB5D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B376F-2C13-DE15-EBB5-AB49AE9B2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11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53665D-8CD2-D52D-D309-B9A023D9C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0A4591-77F5-1397-B87B-74CFF848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03457-459E-1267-9EF1-FA3FE5B9C3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01182-CD2A-AC42-57FB-BA7DA19DE4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9E6-CEFB-57C5-BBE7-E28741B58D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375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17D517B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264900C-EEC6-10B9-EC1B-AA3731C5A02F}"/>
              </a:ext>
            </a:extLst>
          </p:cNvPr>
          <p:cNvSpPr/>
          <p:nvPr/>
        </p:nvSpPr>
        <p:spPr>
          <a:xfrm>
            <a:off x="6255400" y="1862911"/>
            <a:ext cx="4640559" cy="24068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600" b="1" dirty="0" err="1">
                <a:solidFill>
                  <a:schemeClr val="tx1"/>
                </a:solidFill>
              </a:rPr>
              <a:t>functionPartition</a:t>
            </a:r>
            <a:r>
              <a:rPr lang="en-US" sz="1600" b="1" dirty="0">
                <a:solidFill>
                  <a:schemeClr val="tx1"/>
                </a:solidFill>
              </a:rPr>
              <a:t> (Problem Specific Options)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2D9BAA-23D5-978B-7081-0C1832B02CD9}"/>
              </a:ext>
            </a:extLst>
          </p:cNvPr>
          <p:cNvSpPr txBox="1"/>
          <p:nvPr/>
        </p:nvSpPr>
        <p:spPr>
          <a:xfrm>
            <a:off x="0" y="1186"/>
            <a:ext cx="104167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A1: 1=Select arc having the largest uncertainty , 0=Select arc using Lemma2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A2: 1=Partition once per cell , 0=Partition multiple per cell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A3: 1=Split at mean base cost , 0=Split using SA if possible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A4: 1=Frequent solve MP, 0=Consecutive $x$-solution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A5 : 1=Regular opt model, 0=Lazy constraint model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339C0D-069D-82E1-AE0C-64C4CD4080C5}"/>
              </a:ext>
            </a:extLst>
          </p:cNvPr>
          <p:cNvGrpSpPr/>
          <p:nvPr/>
        </p:nvGrpSpPr>
        <p:grpSpPr>
          <a:xfrm>
            <a:off x="218397" y="1667818"/>
            <a:ext cx="1722273" cy="1975113"/>
            <a:chOff x="829450" y="1941369"/>
            <a:chExt cx="1722273" cy="197511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3BE3399-B9D4-3918-F7BB-0DCF57098BF5}"/>
                </a:ext>
              </a:extLst>
            </p:cNvPr>
            <p:cNvSpPr/>
            <p:nvPr/>
          </p:nvSpPr>
          <p:spPr>
            <a:xfrm>
              <a:off x="829450" y="1941369"/>
              <a:ext cx="1722273" cy="197511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sz="1600" b="1" dirty="0"/>
                <a:t>(A5)</a:t>
              </a:r>
            </a:p>
            <a:p>
              <a:pPr algn="ctr"/>
              <a:r>
                <a:rPr lang="en-US" sz="1600" b="1" dirty="0"/>
                <a:t>Model Selection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E08B684-96E6-510E-3B6D-B25085E828D3}"/>
                </a:ext>
              </a:extLst>
            </p:cNvPr>
            <p:cNvSpPr txBox="1"/>
            <p:nvPr/>
          </p:nvSpPr>
          <p:spPr>
            <a:xfrm>
              <a:off x="926758" y="2769743"/>
              <a:ext cx="1525963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LazyAlg</a:t>
              </a:r>
              <a:r>
                <a:rPr lang="en-US" sz="1600" dirty="0">
                  <a:solidFill>
                    <a:schemeClr val="accent1"/>
                  </a:solidFill>
                </a:rPr>
                <a:t> (A5=1)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A75AA5C-87C7-71C0-1DFD-DC148FBD7190}"/>
                </a:ext>
              </a:extLst>
            </p:cNvPr>
            <p:cNvSpPr txBox="1"/>
            <p:nvPr/>
          </p:nvSpPr>
          <p:spPr>
            <a:xfrm>
              <a:off x="926758" y="3218128"/>
              <a:ext cx="1525963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MainAlg</a:t>
              </a:r>
              <a:r>
                <a:rPr lang="en-US" sz="1600" dirty="0">
                  <a:solidFill>
                    <a:schemeClr val="accent1"/>
                  </a:solidFill>
                </a:rPr>
                <a:t> (A5=0)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3AAE28C-1FC6-8B5D-13E3-E41C62C5C45A}"/>
              </a:ext>
            </a:extLst>
          </p:cNvPr>
          <p:cNvSpPr/>
          <p:nvPr/>
        </p:nvSpPr>
        <p:spPr>
          <a:xfrm>
            <a:off x="2660301" y="1941369"/>
            <a:ext cx="1722273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(A2)</a:t>
            </a:r>
          </a:p>
          <a:p>
            <a:pPr algn="ctr"/>
            <a:r>
              <a:rPr lang="en-US" sz="1600" b="1" dirty="0"/>
              <a:t>Partition Style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26FA17-7410-7B38-C525-64BAC6674301}"/>
              </a:ext>
            </a:extLst>
          </p:cNvPr>
          <p:cNvSpPr txBox="1"/>
          <p:nvPr/>
        </p:nvSpPr>
        <p:spPr>
          <a:xfrm>
            <a:off x="2748857" y="2761958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A2_0 (A2 = 0)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7055E3-5621-C30B-1A87-9E1FD0788737}"/>
              </a:ext>
            </a:extLst>
          </p:cNvPr>
          <p:cNvSpPr txBox="1"/>
          <p:nvPr/>
        </p:nvSpPr>
        <p:spPr>
          <a:xfrm>
            <a:off x="2757811" y="3207951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A2_1 (A2 = 1)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7FD829-AFA0-C39E-9809-967F34C68176}"/>
              </a:ext>
            </a:extLst>
          </p:cNvPr>
          <p:cNvSpPr/>
          <p:nvPr/>
        </p:nvSpPr>
        <p:spPr>
          <a:xfrm>
            <a:off x="4480084" y="1941369"/>
            <a:ext cx="1722273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(A4)</a:t>
            </a:r>
          </a:p>
          <a:p>
            <a:pPr algn="ctr"/>
            <a:r>
              <a:rPr lang="en-US" sz="1600" b="1" dirty="0"/>
              <a:t>Freq. of MP-Solve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AFB1B1-43EE-817D-BF19-26245F509422}"/>
              </a:ext>
            </a:extLst>
          </p:cNvPr>
          <p:cNvSpPr txBox="1"/>
          <p:nvPr/>
        </p:nvSpPr>
        <p:spPr>
          <a:xfrm>
            <a:off x="4577595" y="2781347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A4_0 (A4 = 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A57577-F2D6-8387-14C5-E539FB079BDA}"/>
              </a:ext>
            </a:extLst>
          </p:cNvPr>
          <p:cNvSpPr txBox="1"/>
          <p:nvPr/>
        </p:nvSpPr>
        <p:spPr>
          <a:xfrm>
            <a:off x="4586549" y="3227340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A4_1 (A4 = 1)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E6543B8A-19F9-5813-568E-48876914B7E4}"/>
              </a:ext>
            </a:extLst>
          </p:cNvPr>
          <p:cNvSpPr/>
          <p:nvPr/>
        </p:nvSpPr>
        <p:spPr>
          <a:xfrm>
            <a:off x="2660301" y="1433923"/>
            <a:ext cx="8367242" cy="46779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 of Selection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8B67E-EC6D-C748-D581-DADC11AD848A}"/>
              </a:ext>
            </a:extLst>
          </p:cNvPr>
          <p:cNvSpPr/>
          <p:nvPr/>
        </p:nvSpPr>
        <p:spPr>
          <a:xfrm>
            <a:off x="6299867" y="1941369"/>
            <a:ext cx="2309167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(A1)</a:t>
            </a:r>
          </a:p>
          <a:p>
            <a:pPr algn="ctr"/>
            <a:r>
              <a:rPr lang="en-US" sz="1600" b="1" dirty="0"/>
              <a:t>Arc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13388E-5111-DCCA-8EA6-53AD33F31272}"/>
              </a:ext>
            </a:extLst>
          </p:cNvPr>
          <p:cNvSpPr txBox="1"/>
          <p:nvPr/>
        </p:nvSpPr>
        <p:spPr>
          <a:xfrm>
            <a:off x="6371701" y="2897049"/>
            <a:ext cx="2111426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</a:rPr>
              <a:t>functionSelectArc</a:t>
            </a:r>
            <a:r>
              <a:rPr lang="en-US" sz="1600" dirty="0">
                <a:solidFill>
                  <a:schemeClr val="accent1"/>
                </a:solidFill>
              </a:rPr>
              <a:t> (A1)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BCB4539-5C30-16B0-CB50-2096890ADD3A}"/>
              </a:ext>
            </a:extLst>
          </p:cNvPr>
          <p:cNvSpPr/>
          <p:nvPr/>
        </p:nvSpPr>
        <p:spPr>
          <a:xfrm>
            <a:off x="8706545" y="1941369"/>
            <a:ext cx="2093262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(A3)</a:t>
            </a:r>
          </a:p>
          <a:p>
            <a:pPr algn="ctr"/>
            <a:r>
              <a:rPr lang="en-US" sz="1600" b="1" dirty="0"/>
              <a:t>Arc Split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F2ADC1-1C74-637C-DC29-0BCD2F493C4A}"/>
              </a:ext>
            </a:extLst>
          </p:cNvPr>
          <p:cNvSpPr txBox="1"/>
          <p:nvPr/>
        </p:nvSpPr>
        <p:spPr>
          <a:xfrm>
            <a:off x="8799106" y="2902782"/>
            <a:ext cx="1914009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</a:rPr>
              <a:t>functionArcSplit</a:t>
            </a:r>
            <a:r>
              <a:rPr lang="en-US" sz="1600" dirty="0">
                <a:solidFill>
                  <a:schemeClr val="accent1"/>
                </a:solidFill>
              </a:rPr>
              <a:t> (A3)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2191C5-073B-8009-D9E2-5CDE4ECFA304}"/>
              </a:ext>
            </a:extLst>
          </p:cNvPr>
          <p:cNvCxnSpPr>
            <a:cxnSpLocks/>
            <a:stCxn id="28" idx="0"/>
            <a:endCxn id="14" idx="2"/>
          </p:cNvCxnSpPr>
          <p:nvPr/>
        </p:nvCxnSpPr>
        <p:spPr>
          <a:xfrm flipV="1">
            <a:off x="829450" y="3642931"/>
            <a:ext cx="250084" cy="1297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B919D79-13CB-BD8A-9D8E-885235BB3A90}"/>
              </a:ext>
            </a:extLst>
          </p:cNvPr>
          <p:cNvGrpSpPr/>
          <p:nvPr/>
        </p:nvGrpSpPr>
        <p:grpSpPr>
          <a:xfrm>
            <a:off x="-758393" y="4940479"/>
            <a:ext cx="3175686" cy="2514341"/>
            <a:chOff x="102744" y="4121236"/>
            <a:chExt cx="3175686" cy="251434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6BDC4DA-A3D7-02DD-247D-B97C6C88EC9E}"/>
                </a:ext>
              </a:extLst>
            </p:cNvPr>
            <p:cNvSpPr/>
            <p:nvPr/>
          </p:nvSpPr>
          <p:spPr>
            <a:xfrm>
              <a:off x="102744" y="4121236"/>
              <a:ext cx="3175686" cy="251434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600" b="1" dirty="0" err="1">
                  <a:solidFill>
                    <a:schemeClr val="tx1"/>
                  </a:solidFill>
                </a:rPr>
                <a:t>functionLoadSharedFiles</a:t>
              </a:r>
              <a:endParaRPr 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02E791-4C70-306B-C88A-32BCBCC08FDF}"/>
                </a:ext>
              </a:extLst>
            </p:cNvPr>
            <p:cNvSpPr txBox="1"/>
            <p:nvPr/>
          </p:nvSpPr>
          <p:spPr>
            <a:xfrm>
              <a:off x="436795" y="4815511"/>
              <a:ext cx="1630567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/>
                <a:t>functionGbound</a:t>
              </a:r>
              <a:endParaRPr lang="en-US" sz="1600" dirty="0"/>
            </a:p>
            <a:p>
              <a:r>
                <a:rPr lang="en-US" sz="1600" dirty="0" err="1"/>
                <a:t>functionHbound</a:t>
              </a:r>
              <a:endParaRPr lang="en-US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87B32F-44F9-690C-8CF7-05DD1A4EBFF1}"/>
                </a:ext>
              </a:extLst>
            </p:cNvPr>
            <p:cNvSpPr txBox="1"/>
            <p:nvPr/>
          </p:nvSpPr>
          <p:spPr>
            <a:xfrm>
              <a:off x="435762" y="4437301"/>
              <a:ext cx="20193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/>
                <a:t>functionGetCellInfo</a:t>
              </a:r>
              <a:endParaRPr lang="en-US" sz="16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CB6B52-FD67-427E-28BB-190CF178CB84}"/>
                </a:ext>
              </a:extLst>
            </p:cNvPr>
            <p:cNvSpPr txBox="1"/>
            <p:nvPr/>
          </p:nvSpPr>
          <p:spPr>
            <a:xfrm>
              <a:off x="435762" y="5454019"/>
              <a:ext cx="2358189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functionSelectArc</a:t>
              </a:r>
              <a:r>
                <a:rPr lang="en-US" sz="1600" dirty="0">
                  <a:solidFill>
                    <a:schemeClr val="accent1"/>
                  </a:solidFill>
                </a:rPr>
                <a:t> (A1)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21C9D0C-4DAE-CF77-56CA-02A7B1B0E7F7}"/>
                </a:ext>
              </a:extLst>
            </p:cNvPr>
            <p:cNvSpPr txBox="1"/>
            <p:nvPr/>
          </p:nvSpPr>
          <p:spPr>
            <a:xfrm>
              <a:off x="433421" y="5848981"/>
              <a:ext cx="2368386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functionArcSplit</a:t>
              </a:r>
              <a:r>
                <a:rPr lang="en-US" sz="1600" dirty="0">
                  <a:solidFill>
                    <a:schemeClr val="accent1"/>
                  </a:solidFill>
                </a:rPr>
                <a:t> (A3)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7ABEFD-A08C-EF4F-58B8-81D9F4A5D0B4}"/>
                </a:ext>
              </a:extLst>
            </p:cNvPr>
            <p:cNvSpPr txBox="1"/>
            <p:nvPr/>
          </p:nvSpPr>
          <p:spPr>
            <a:xfrm>
              <a:off x="433421" y="6236598"/>
              <a:ext cx="20193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/>
                  </a:solidFill>
                </a:rPr>
                <a:t>functionPartition</a:t>
              </a:r>
              <a:endParaRPr lang="en-US" sz="1600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F16C08-476D-5C1B-8D6F-4677835DA6A4}"/>
              </a:ext>
            </a:extLst>
          </p:cNvPr>
          <p:cNvSpPr txBox="1"/>
          <p:nvPr/>
        </p:nvSpPr>
        <p:spPr>
          <a:xfrm>
            <a:off x="2790092" y="4185138"/>
            <a:ext cx="250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(Computational Options)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220BC0-885B-F2FF-86DB-74BEA14D6F90}"/>
              </a:ext>
            </a:extLst>
          </p:cNvPr>
          <p:cNvSpPr txBox="1"/>
          <p:nvPr/>
        </p:nvSpPr>
        <p:spPr>
          <a:xfrm>
            <a:off x="4829909" y="4698729"/>
            <a:ext cx="6670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E.g., A5-A2-A4 may work for majority of instances, but A1/A3 may work better for some types of instances </a:t>
            </a:r>
          </a:p>
        </p:txBody>
      </p:sp>
    </p:spTree>
    <p:extLst>
      <p:ext uri="{BB962C8B-B14F-4D97-AF65-F5344CB8AC3E}">
        <p14:creationId xmlns:p14="http://schemas.microsoft.com/office/powerpoint/2010/main" val="3998412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E663-A383-24FF-9EA1-AC8BAE5D2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553A1-FACA-B8E3-19DF-30E98121B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to see if there are any patterns/trends in the instances that impact the </a:t>
            </a:r>
            <a:r>
              <a:rPr lang="en-US"/>
              <a:t>solution time.</a:t>
            </a:r>
          </a:p>
        </p:txBody>
      </p:sp>
    </p:spTree>
    <p:extLst>
      <p:ext uri="{BB962C8B-B14F-4D97-AF65-F5344CB8AC3E}">
        <p14:creationId xmlns:p14="http://schemas.microsoft.com/office/powerpoint/2010/main" val="3727326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EB7F-751E-0FD8-9401-9F9DB143D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60DAF-D1D5-9099-1B4B-B807EF1E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Steps</a:t>
            </a:r>
          </a:p>
          <a:p>
            <a:pPr marL="0" indent="0">
              <a:buNone/>
            </a:pPr>
            <a:r>
              <a:rPr lang="en-US" dirty="0"/>
              <a:t>S = empty</a:t>
            </a:r>
          </a:p>
          <a:p>
            <a:pPr marL="514350" indent="-514350">
              <a:buAutoNum type="arabicPeriod"/>
            </a:pPr>
            <a:r>
              <a:rPr lang="en-US" dirty="0"/>
              <a:t>Sample new data points and add to S </a:t>
            </a:r>
          </a:p>
          <a:p>
            <a:pPr marL="514350" indent="-514350">
              <a:buAutoNum type="arabicPeriod"/>
            </a:pPr>
            <a:r>
              <a:rPr lang="en-US" dirty="0"/>
              <a:t>Solve MP (by Benders or </a:t>
            </a:r>
            <a:r>
              <a:rPr lang="en-US" dirty="0" err="1"/>
              <a:t>APM:Group</a:t>
            </a:r>
            <a:r>
              <a:rPr lang="en-US" dirty="0"/>
              <a:t> by y-solutions aka paths), Get optimal x-solution for the sample S</a:t>
            </a:r>
          </a:p>
          <a:p>
            <a:pPr marL="971550" lvl="1" indent="-514350">
              <a:buAutoNum type="arabicPeriod"/>
            </a:pPr>
            <a:r>
              <a:rPr lang="en-US" dirty="0"/>
              <a:t>Find an alternative to h-bound</a:t>
            </a:r>
          </a:p>
          <a:p>
            <a:pPr marL="514350" indent="-514350">
              <a:buAutoNum type="arabicPeriod"/>
            </a:pPr>
            <a:r>
              <a:rPr lang="en-US" dirty="0"/>
              <a:t>Go back to 1.</a:t>
            </a:r>
          </a:p>
        </p:txBody>
      </p:sp>
    </p:spTree>
    <p:extLst>
      <p:ext uri="{BB962C8B-B14F-4D97-AF65-F5344CB8AC3E}">
        <p14:creationId xmlns:p14="http://schemas.microsoft.com/office/powerpoint/2010/main" val="850482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83D6-8E56-96B2-4E3F-8A9CFAF60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73D5-396B-D4D2-7D97-9B3067F39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 additional samples &amp; how to get them</a:t>
            </a:r>
          </a:p>
          <a:p>
            <a:r>
              <a:rPr lang="en-US" dirty="0"/>
              <a:t>Can we do sequential sampling?</a:t>
            </a:r>
          </a:p>
          <a:p>
            <a:r>
              <a:rPr lang="en-US" dirty="0"/>
              <a:t>How can we address the sample size increase to be consistent? </a:t>
            </a:r>
          </a:p>
          <a:p>
            <a:r>
              <a:rPr lang="en-US" dirty="0"/>
              <a:t>Reusing the samples from before? </a:t>
            </a:r>
          </a:p>
        </p:txBody>
      </p:sp>
    </p:spTree>
    <p:extLst>
      <p:ext uri="{BB962C8B-B14F-4D97-AF65-F5344CB8AC3E}">
        <p14:creationId xmlns:p14="http://schemas.microsoft.com/office/powerpoint/2010/main" val="2966282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293</Words>
  <Application>Microsoft Macintosh PowerPoint</Application>
  <PresentationFormat>Widescreen</PresentationFormat>
  <Paragraphs>49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Output</vt:lpstr>
      <vt:lpstr>SAA</vt:lpstr>
      <vt:lpstr>Sequential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 Nguyen</dc:creator>
  <cp:lastModifiedBy>Di Nguyen</cp:lastModifiedBy>
  <cp:revision>9</cp:revision>
  <dcterms:created xsi:type="dcterms:W3CDTF">2023-10-02T14:18:44Z</dcterms:created>
  <dcterms:modified xsi:type="dcterms:W3CDTF">2023-12-18T19:30:54Z</dcterms:modified>
</cp:coreProperties>
</file>