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17D517B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32BF89-4DB7-069E-AF65-6F64629FFC42}" name="Di Nguyen" initials="" userId="S::di.nguyen@ucd.ie::922706d8-f1a5-45fe-8c0d-8415e5328f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9"/>
    <p:restoredTop sz="94762"/>
  </p:normalViewPr>
  <p:slideViewPr>
    <p:cSldViewPr snapToGrid="0">
      <p:cViewPr varScale="1">
        <p:scale>
          <a:sx n="103" d="100"/>
          <a:sy n="103" d="100"/>
        </p:scale>
        <p:origin x="3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1_17D517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6AF2DD-F970-F74E-B53B-63B0FCB39DFA}" authorId="{7032BF89-4DB7-069E-AF65-6F64629FFC42}" created="2023-10-02T14:24:16.6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9841200" sldId="257"/>
      <ac:spMk id="9" creationId="{5602E791-4C70-306B-C88A-32BCBCC08FDF}"/>
      <ac:txMk cp="0" len="29">
        <ac:context len="30" hash="3070219813"/>
      </ac:txMk>
    </ac:txMkLst>
    <p188:pos x="1804704" y="868680"/>
    <p188:txBody>
      <a:bodyPr/>
      <a:lstStyle/>
      <a:p>
        <a:r>
          <a:rPr lang="en-US"/>
          <a:t>For a given cell and x-solution, return information on the UB and LB objective values and corresponding solutions</a:t>
        </a:r>
      </a:p>
    </p188:txBody>
  </p188:cm>
  <p188:cm id="{26BA129D-95BC-EA44-AF10-7E0544F4A832}" authorId="{7032BF89-4DB7-069E-AF65-6F64629FFC42}" created="2023-10-02T14:24:55.7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9841200" sldId="257"/>
      <ac:spMk id="10" creationId="{5687B32F-44F9-690C-8CF7-05DD1A4EBFF1}"/>
      <ac:txMk cp="0" len="19">
        <ac:context len="20" hash="3264157407"/>
      </ac:txMk>
    </ac:txMkLst>
    <p188:pos x="2087880" y="865555"/>
    <p188:txBody>
      <a:bodyPr/>
      <a:lstStyle/>
      <a:p>
        <a:r>
          <a:rPr lang="en-US"/>
          <a:t>Query a cell’s info from dataframe</a:t>
        </a:r>
      </a:p>
    </p188:txBody>
  </p188:cm>
  <p188:cm id="{CD67B005-30D8-144B-8F20-14E815761C6A}" authorId="{7032BF89-4DB7-069E-AF65-6F64629FFC42}" created="2023-10-02T14:36:11.1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9841200" sldId="257"/>
      <ac:spMk id="11" creationId="{1CCB6B52-FD67-427E-28BB-190CF178CB84}"/>
    </ac:deMkLst>
    <p188:txBody>
      <a:bodyPr/>
      <a:lstStyle/>
      <a:p>
        <a:r>
          <a:rPr lang="en-US"/>
          <a:t>Select arc based on A1 = 0 or A1 = 1</a:t>
        </a:r>
      </a:p>
    </p188:txBody>
  </p188:cm>
  <p188:cm id="{D07FFFF7-018C-0A4A-A505-DEE3C68DDCC6}" authorId="{7032BF89-4DB7-069E-AF65-6F64629FFC42}" created="2023-10-02T14:51:11.9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9841200" sldId="257"/>
      <ac:spMk id="28" creationId="{76BDC4DA-A3D7-02DD-247D-B97C6C88EC9E}"/>
    </ac:deMkLst>
    <p188:txBody>
      <a:bodyPr/>
      <a:lstStyle/>
      <a:p>
        <a:r>
          <a:rPr lang="en-US"/>
          <a:t>-Set Gurobi parameters
-Load instance to run
-Load functions that are used across all variations, e.g., arc selection, obtain cell’s info</a:t>
        </a:r>
      </a:p>
    </p188:txBody>
  </p188:cm>
  <p188:cm id="{731EE8ED-40C6-6A41-BF39-0EB0A8F71913}" authorId="{7032BF89-4DB7-069E-AF65-6F64629FFC42}" created="2023-10-02T14:55:20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9841200" sldId="257"/>
      <ac:spMk id="33" creationId="{7264900C-EEC6-10B9-EC1B-AA3731C5A02F}"/>
      <ac:txMk cp="0" len="17">
        <ac:context len="18" hash="3335568333"/>
      </ac:txMk>
    </ac:txMkLst>
    <p188:pos x="1603497" y="2560808"/>
    <p188:txBody>
      <a:bodyPr/>
      <a:lstStyle/>
      <a:p>
        <a:r>
          <a:rPr lang="en-US"/>
          <a:t>functionPartition calls functionSelectArc and functionArcSplit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D341-FF2D-BBB9-42F1-97B728489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193E9-E824-AA50-8FCD-8C17D3A3C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A487-CB3A-E2CF-4B34-81421352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51D3-4DD7-E2C3-605C-C28A95A9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0869B-8DE3-63D3-D500-49290DE7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2D98-13DC-7B7F-D6B2-25AF676E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A645-6C82-0813-C01E-E699E2E24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15F65-F804-B7A2-B64F-EC890142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E3CA3-5D98-8431-154C-D40B547C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91B5B-F3D4-2F75-4034-2E33FA74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C051-47DA-5C8A-8045-77BD82F72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98593-5AF8-47E5-9097-9023D7474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2D05E-653F-2496-9EC9-977DE893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42A5-A0BE-7134-95AF-74E6B91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C0115-8541-E901-C8F1-5A49E941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5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4F8C-8D06-0DE1-03B5-55F161A5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92EB5-0168-8391-B5A0-3F83F06E0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96930-A67C-ABFF-6CE8-F61277795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4DAB1-4436-8ED1-8FF7-DD9D75F3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5F144-3E6D-27F3-D212-CD858530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F4122-C6A4-2C13-352A-505FA3E2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7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F327-7DF8-D6CB-0C1B-7C87B919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DD9FD-6347-2200-A124-E3B0D212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8D1A7-8185-A99C-0E36-B2F9CDEA3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C6CB8-B535-63E3-D0D2-7048BB699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3DA08-B51F-C06E-B876-25D726929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F71D9-AE42-0E51-A9B7-1F260671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7190B-6E64-A7CD-CDFC-93FEE531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C7FA2-28EA-B737-EF79-EB316CC9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6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0DF5-8775-8DB7-A1A3-D54395CF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ED8D-581F-B8C0-9C51-1C9F52E6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359F7-DEB8-2E2D-25A6-A6D99443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D20FC-C705-C1D2-6736-5BCF08D0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7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E8B54-8781-B493-F71C-FA248527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11D40-C8EB-6303-C33A-6B6ED0EA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00E03-ADA5-8D15-8A4F-C5126616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4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95CE-2092-FFB3-7E5B-6BF2E7E9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DDB00-6D33-9B20-E0DD-D8304AAEF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E68DF-7183-45B4-1FB5-1259F9076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B2EB4-8DFF-BC57-D6FB-881C45EA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2D25D-B036-A44D-47A1-7E956C8A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E96E7-1CC5-BE79-18FE-A0A972BC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F650-D759-2C8B-96AA-6A8F5BA9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E3765-2D3C-AD89-5C46-9D6ADB65E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67765-364B-111C-5D9F-83F69D8E9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8F445-CD00-4235-D930-99CEEF6C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19CB4-2B69-5942-E6A7-FF5EEEB4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FD8E8-6089-8723-C31F-7EF13E58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6F03-274A-FFA0-F4EB-F8B11555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79F34-2696-DE06-EAE5-86F190C65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24EA2-3373-2240-CB7B-8D42E194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A919-72E4-C9D7-7CA5-1B7D2E1F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83075-6658-3452-DC58-AC1CD091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8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D482D-FDC7-DC32-0556-2E467AE51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7C138-8F97-7F61-506D-01AB25F7A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A3CB7-B3E4-222B-563D-F46C10FA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45B2-3E28-9A11-8775-9064DCB5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B376F-2C13-DE15-EBB5-AB49AE9B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1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3665D-8CD2-D52D-D309-B9A023D9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A4591-77F5-1397-B87B-74CFF8488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3457-459E-1267-9EF1-FA3FE5B9C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65892-A207-314E-BD7B-266B1DC85234}" type="datetimeFigureOut">
              <a:rPr lang="en-US" smtClean="0"/>
              <a:t>10/2/23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01182-CD2A-AC42-57FB-BA7DA19DE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A9E6-CEFB-57C5-BBE7-E28741B5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372A1-6C24-5F4D-AC3A-639C5AA46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7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17D517B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264900C-EEC6-10B9-EC1B-AA3731C5A02F}"/>
              </a:ext>
            </a:extLst>
          </p:cNvPr>
          <p:cNvSpPr/>
          <p:nvPr/>
        </p:nvSpPr>
        <p:spPr>
          <a:xfrm>
            <a:off x="6255400" y="1862911"/>
            <a:ext cx="4640559" cy="24068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sz="1600" b="1" dirty="0" err="1">
                <a:solidFill>
                  <a:schemeClr val="tx1"/>
                </a:solidFill>
              </a:rPr>
              <a:t>functionPartition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BDC4DA-A3D7-02DD-247D-B97C6C88EC9E}"/>
              </a:ext>
            </a:extLst>
          </p:cNvPr>
          <p:cNvSpPr/>
          <p:nvPr/>
        </p:nvSpPr>
        <p:spPr>
          <a:xfrm>
            <a:off x="102744" y="4121236"/>
            <a:ext cx="3175686" cy="25143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600" b="1" dirty="0" err="1">
                <a:solidFill>
                  <a:schemeClr val="tx1"/>
                </a:solidFill>
              </a:rPr>
              <a:t>functionLoadSharedFiles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E3399-B9D4-3918-F7BB-0DCF57098BF5}"/>
              </a:ext>
            </a:extLst>
          </p:cNvPr>
          <p:cNvSpPr/>
          <p:nvPr/>
        </p:nvSpPr>
        <p:spPr>
          <a:xfrm>
            <a:off x="829450" y="1941369"/>
            <a:ext cx="1722273" cy="1975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/>
              <a:t>(A5)</a:t>
            </a:r>
          </a:p>
          <a:p>
            <a:pPr algn="ctr"/>
            <a:r>
              <a:rPr lang="en-US" sz="1600" b="1" dirty="0"/>
              <a:t>Model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D9BAA-23D5-978B-7081-0C1832B02CD9}"/>
              </a:ext>
            </a:extLst>
          </p:cNvPr>
          <p:cNvSpPr txBox="1"/>
          <p:nvPr/>
        </p:nvSpPr>
        <p:spPr>
          <a:xfrm>
            <a:off x="0" y="1186"/>
            <a:ext cx="10416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A1: 1=Select arc having the largest uncertainty , 0=Select arc using Lemma2</a:t>
            </a:r>
          </a:p>
          <a:p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A2: 1=Partition once per cell , 0=Partition multiple per cell</a:t>
            </a:r>
          </a:p>
          <a:p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A3: 1=Split at mean base cost , 0=Split using SA if possible</a:t>
            </a:r>
          </a:p>
          <a:p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A4: 1=Frequent solve MP, 0=Consecutive $x$-solution</a:t>
            </a:r>
          </a:p>
          <a:p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A5 : 1=Regular opt model, 0=Lazy constraint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8B684-96E6-510E-3B6D-B25085E828D3}"/>
              </a:ext>
            </a:extLst>
          </p:cNvPr>
          <p:cNvSpPr txBox="1"/>
          <p:nvPr/>
        </p:nvSpPr>
        <p:spPr>
          <a:xfrm>
            <a:off x="926758" y="2769743"/>
            <a:ext cx="1525963" cy="33855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LazyAlg</a:t>
            </a:r>
            <a:r>
              <a:rPr lang="en-US" sz="1600" dirty="0">
                <a:solidFill>
                  <a:schemeClr val="accent1"/>
                </a:solidFill>
              </a:rPr>
              <a:t> (A5=1)x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5AA5C-87C7-71C0-1DFD-DC148FBD7190}"/>
              </a:ext>
            </a:extLst>
          </p:cNvPr>
          <p:cNvSpPr txBox="1"/>
          <p:nvPr/>
        </p:nvSpPr>
        <p:spPr>
          <a:xfrm>
            <a:off x="926758" y="3218128"/>
            <a:ext cx="1525963" cy="33855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MainAlg</a:t>
            </a:r>
            <a:r>
              <a:rPr lang="en-US" sz="1600" dirty="0">
                <a:solidFill>
                  <a:schemeClr val="accent1"/>
                </a:solidFill>
              </a:rPr>
              <a:t> (A5=0)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2E791-4C70-306B-C88A-32BCBCC08FDF}"/>
              </a:ext>
            </a:extLst>
          </p:cNvPr>
          <p:cNvSpPr txBox="1"/>
          <p:nvPr/>
        </p:nvSpPr>
        <p:spPr>
          <a:xfrm>
            <a:off x="436795" y="4815511"/>
            <a:ext cx="163056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functionGbound</a:t>
            </a:r>
            <a:endParaRPr lang="en-US" sz="1600" dirty="0"/>
          </a:p>
          <a:p>
            <a:r>
              <a:rPr lang="en-US" sz="1600" dirty="0" err="1"/>
              <a:t>functionHbound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7B32F-44F9-690C-8CF7-05DD1A4EBFF1}"/>
              </a:ext>
            </a:extLst>
          </p:cNvPr>
          <p:cNvSpPr txBox="1"/>
          <p:nvPr/>
        </p:nvSpPr>
        <p:spPr>
          <a:xfrm>
            <a:off x="435762" y="4437301"/>
            <a:ext cx="20193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functionGetCellInfo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B6B52-FD67-427E-28BB-190CF178CB84}"/>
              </a:ext>
            </a:extLst>
          </p:cNvPr>
          <p:cNvSpPr txBox="1"/>
          <p:nvPr/>
        </p:nvSpPr>
        <p:spPr>
          <a:xfrm>
            <a:off x="435762" y="5454019"/>
            <a:ext cx="2358189" cy="33855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functionSelectArc</a:t>
            </a:r>
            <a:r>
              <a:rPr lang="en-US" sz="1600" dirty="0">
                <a:solidFill>
                  <a:schemeClr val="accent1"/>
                </a:solidFill>
              </a:rPr>
              <a:t> (A1)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1C9D0C-4DAE-CF77-56CA-02A7B1B0E7F7}"/>
              </a:ext>
            </a:extLst>
          </p:cNvPr>
          <p:cNvSpPr txBox="1"/>
          <p:nvPr/>
        </p:nvSpPr>
        <p:spPr>
          <a:xfrm>
            <a:off x="433421" y="5848981"/>
            <a:ext cx="2368386" cy="33855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functionArcSplit</a:t>
            </a:r>
            <a:r>
              <a:rPr lang="en-US" sz="1600" dirty="0">
                <a:solidFill>
                  <a:schemeClr val="accent1"/>
                </a:solidFill>
              </a:rPr>
              <a:t> (A3)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AAE28C-1FC6-8B5D-13E3-E41C62C5C45A}"/>
              </a:ext>
            </a:extLst>
          </p:cNvPr>
          <p:cNvSpPr/>
          <p:nvPr/>
        </p:nvSpPr>
        <p:spPr>
          <a:xfrm>
            <a:off x="2660301" y="1941369"/>
            <a:ext cx="1722273" cy="1961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/>
              <a:t>(A2)</a:t>
            </a:r>
          </a:p>
          <a:p>
            <a:pPr algn="ctr"/>
            <a:r>
              <a:rPr lang="en-US" sz="1600" b="1" dirty="0"/>
              <a:t>Partition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26FA17-7410-7B38-C525-64BAC6674301}"/>
              </a:ext>
            </a:extLst>
          </p:cNvPr>
          <p:cNvSpPr txBox="1"/>
          <p:nvPr/>
        </p:nvSpPr>
        <p:spPr>
          <a:xfrm>
            <a:off x="2748857" y="2761958"/>
            <a:ext cx="152763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A2_0 (A2 = 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055E3-5621-C30B-1A87-9E1FD0788737}"/>
              </a:ext>
            </a:extLst>
          </p:cNvPr>
          <p:cNvSpPr txBox="1"/>
          <p:nvPr/>
        </p:nvSpPr>
        <p:spPr>
          <a:xfrm>
            <a:off x="2757811" y="3207951"/>
            <a:ext cx="152763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A2_1 (A2 = 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7FD829-AFA0-C39E-9809-967F34C68176}"/>
              </a:ext>
            </a:extLst>
          </p:cNvPr>
          <p:cNvSpPr/>
          <p:nvPr/>
        </p:nvSpPr>
        <p:spPr>
          <a:xfrm>
            <a:off x="4480084" y="1941369"/>
            <a:ext cx="1722273" cy="1961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/>
              <a:t>(A4)</a:t>
            </a:r>
          </a:p>
          <a:p>
            <a:pPr algn="ctr"/>
            <a:r>
              <a:rPr lang="en-US" sz="1600" b="1" dirty="0"/>
              <a:t>Freq. of MP-Solve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AFB1B1-43EE-817D-BF19-26245F509422}"/>
              </a:ext>
            </a:extLst>
          </p:cNvPr>
          <p:cNvSpPr txBox="1"/>
          <p:nvPr/>
        </p:nvSpPr>
        <p:spPr>
          <a:xfrm>
            <a:off x="4577595" y="2781347"/>
            <a:ext cx="152763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A4_0 (A4 = 0)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A57577-F2D6-8387-14C5-E539FB079BDA}"/>
              </a:ext>
            </a:extLst>
          </p:cNvPr>
          <p:cNvSpPr txBox="1"/>
          <p:nvPr/>
        </p:nvSpPr>
        <p:spPr>
          <a:xfrm>
            <a:off x="4586549" y="3227340"/>
            <a:ext cx="152763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A4_1 (A4 = 1)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E6543B8A-19F9-5813-568E-48876914B7E4}"/>
              </a:ext>
            </a:extLst>
          </p:cNvPr>
          <p:cNvSpPr/>
          <p:nvPr/>
        </p:nvSpPr>
        <p:spPr>
          <a:xfrm>
            <a:off x="595690" y="1434679"/>
            <a:ext cx="10636602" cy="46779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of Selection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C8B67E-EC6D-C748-D581-DADC11AD848A}"/>
              </a:ext>
            </a:extLst>
          </p:cNvPr>
          <p:cNvSpPr/>
          <p:nvPr/>
        </p:nvSpPr>
        <p:spPr>
          <a:xfrm>
            <a:off x="6299867" y="1941369"/>
            <a:ext cx="2309167" cy="1961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/>
              <a:t>(A1)</a:t>
            </a:r>
          </a:p>
          <a:p>
            <a:pPr algn="ctr"/>
            <a:r>
              <a:rPr lang="en-US" sz="1600" b="1" dirty="0"/>
              <a:t>Arc Selection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3388E-5111-DCCA-8EA6-53AD33F31272}"/>
              </a:ext>
            </a:extLst>
          </p:cNvPr>
          <p:cNvSpPr txBox="1"/>
          <p:nvPr/>
        </p:nvSpPr>
        <p:spPr>
          <a:xfrm>
            <a:off x="6371701" y="2897049"/>
            <a:ext cx="211142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functionSelectArc</a:t>
            </a:r>
            <a:r>
              <a:rPr lang="en-US" sz="1600" dirty="0">
                <a:solidFill>
                  <a:schemeClr val="accent1"/>
                </a:solidFill>
              </a:rPr>
              <a:t> (A1)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CB4539-5C30-16B0-CB50-2096890ADD3A}"/>
              </a:ext>
            </a:extLst>
          </p:cNvPr>
          <p:cNvSpPr/>
          <p:nvPr/>
        </p:nvSpPr>
        <p:spPr>
          <a:xfrm>
            <a:off x="8706545" y="1941369"/>
            <a:ext cx="2093262" cy="1961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b="1" dirty="0"/>
              <a:t>(A3)</a:t>
            </a:r>
          </a:p>
          <a:p>
            <a:pPr algn="ctr"/>
            <a:r>
              <a:rPr lang="en-US" sz="1600" b="1" dirty="0"/>
              <a:t>Arc Split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F2ADC1-1C74-637C-DC29-0BCD2F493C4A}"/>
              </a:ext>
            </a:extLst>
          </p:cNvPr>
          <p:cNvSpPr txBox="1"/>
          <p:nvPr/>
        </p:nvSpPr>
        <p:spPr>
          <a:xfrm>
            <a:off x="8799106" y="2902782"/>
            <a:ext cx="191400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functionArcSplit</a:t>
            </a:r>
            <a:r>
              <a:rPr lang="en-US" sz="1600" dirty="0">
                <a:solidFill>
                  <a:schemeClr val="accent1"/>
                </a:solidFill>
              </a:rPr>
              <a:t> (A3)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2191C5-073B-8009-D9E2-5CDE4ECFA304}"/>
              </a:ext>
            </a:extLst>
          </p:cNvPr>
          <p:cNvCxnSpPr>
            <a:cxnSpLocks/>
            <a:stCxn id="28" idx="0"/>
            <a:endCxn id="14" idx="2"/>
          </p:cNvCxnSpPr>
          <p:nvPr/>
        </p:nvCxnSpPr>
        <p:spPr>
          <a:xfrm flipV="1">
            <a:off x="1690587" y="3916482"/>
            <a:ext cx="0" cy="204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7ABEFD-A08C-EF4F-58B8-81D9F4A5D0B4}"/>
              </a:ext>
            </a:extLst>
          </p:cNvPr>
          <p:cNvSpPr txBox="1"/>
          <p:nvPr/>
        </p:nvSpPr>
        <p:spPr>
          <a:xfrm>
            <a:off x="433421" y="6236598"/>
            <a:ext cx="20193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functionPartition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8412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162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 Nguyen</dc:creator>
  <cp:lastModifiedBy>Di Nguyen</cp:lastModifiedBy>
  <cp:revision>5</cp:revision>
  <dcterms:created xsi:type="dcterms:W3CDTF">2023-10-02T14:18:44Z</dcterms:created>
  <dcterms:modified xsi:type="dcterms:W3CDTF">2023-10-02T14:56:58Z</dcterms:modified>
</cp:coreProperties>
</file>